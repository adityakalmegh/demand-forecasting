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1" r:id="rId4"/>
    <p:sldId id="273" r:id="rId5"/>
    <p:sldId id="262" r:id="rId6"/>
    <p:sldId id="267" r:id="rId7"/>
    <p:sldId id="260" r:id="rId8"/>
    <p:sldId id="261" r:id="rId9"/>
    <p:sldId id="264" r:id="rId10"/>
    <p:sldId id="266" r:id="rId11"/>
    <p:sldId id="265" r:id="rId12"/>
    <p:sldId id="263" r:id="rId13"/>
    <p:sldId id="268" r:id="rId14"/>
    <p:sldId id="272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8131531-FE34-4322-8495-5CD38082DFCD}">
          <p14:sldIdLst>
            <p14:sldId id="256"/>
          </p14:sldIdLst>
        </p14:section>
        <p14:section name="Experience, R&amp;R" id="{1F386233-70B0-41E2-A3AA-802931093E13}">
          <p14:sldIdLst>
            <p14:sldId id="258"/>
            <p14:sldId id="271"/>
            <p14:sldId id="273"/>
            <p14:sldId id="262"/>
            <p14:sldId id="267"/>
            <p14:sldId id="260"/>
            <p14:sldId id="261"/>
          </p14:sldIdLst>
        </p14:section>
        <p14:section name="System Analysis Steps" id="{A80269A8-9225-4F8F-AFE1-E63486D09824}">
          <p14:sldIdLst>
            <p14:sldId id="264"/>
            <p14:sldId id="266"/>
          </p14:sldIdLst>
        </p14:section>
        <p14:section name="Data as a shared resouce" id="{E32DDC8F-50A5-47F3-9FA9-8C46772C4F81}">
          <p14:sldIdLst>
            <p14:sldId id="265"/>
          </p14:sldIdLst>
        </p14:section>
        <p14:section name="User Adoption" id="{30339AED-D089-46AE-8619-0B05A54854D1}">
          <p14:sldIdLst>
            <p14:sldId id="263"/>
          </p14:sldIdLst>
        </p14:section>
        <p14:section name="Communication" id="{B7853899-1635-4850-8260-2158678BB63E}">
          <p14:sldIdLst>
            <p14:sldId id="268"/>
          </p14:sldIdLst>
        </p14:section>
        <p14:section name="Program Status" id="{F9C47F25-63F4-40E3-904F-E12983359877}">
          <p14:sldIdLst>
            <p14:sldId id="272"/>
          </p14:sldIdLst>
        </p14:section>
        <p14:section name="Collaboration: Handling Conflicts" id="{68C8E710-D915-423E-8DD8-8D75CF3DAFAF}">
          <p14:sldIdLst>
            <p14:sldId id="269"/>
          </p14:sldIdLst>
        </p14:section>
        <p14:section name="Collaboration: Handling Conflicts" id="{08F640DE-F340-4BA5-B3A0-1D73614E5437}">
          <p14:sldIdLst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126531-9A9D-4EE3-ADC1-A0171F98029E}" v="16" dt="2026-07-13T17:48:18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lmegh, Aditya (DOC)" userId="fb5b1123-5591-46b6-80bc-504fc94dce17" providerId="ADAL" clId="{113F8182-D14E-417B-8C5E-74DEEE72A419}"/>
    <pc:docChg chg="custSel addSld modSld sldOrd addSection modSection">
      <pc:chgData name="Kalmegh, Aditya (DOC)" userId="fb5b1123-5591-46b6-80bc-504fc94dce17" providerId="ADAL" clId="{113F8182-D14E-417B-8C5E-74DEEE72A419}" dt="2026-07-13T21:28:47.712" v="1102" actId="20577"/>
      <pc:docMkLst>
        <pc:docMk/>
      </pc:docMkLst>
      <pc:sldChg chg="modSp mod">
        <pc:chgData name="Kalmegh, Aditya (DOC)" userId="fb5b1123-5591-46b6-80bc-504fc94dce17" providerId="ADAL" clId="{113F8182-D14E-417B-8C5E-74DEEE72A419}" dt="2026-07-13T17:27:37.171" v="308" actId="1076"/>
        <pc:sldMkLst>
          <pc:docMk/>
          <pc:sldMk cId="3424339823" sldId="258"/>
        </pc:sldMkLst>
        <pc:spChg chg="mod">
          <ac:chgData name="Kalmegh, Aditya (DOC)" userId="fb5b1123-5591-46b6-80bc-504fc94dce17" providerId="ADAL" clId="{113F8182-D14E-417B-8C5E-74DEEE72A419}" dt="2026-07-13T17:27:37.171" v="308" actId="1076"/>
          <ac:spMkLst>
            <pc:docMk/>
            <pc:sldMk cId="3424339823" sldId="258"/>
            <ac:spMk id="2" creationId="{348A22A1-64B0-25F0-BD38-2E8212DC1282}"/>
          </ac:spMkLst>
        </pc:spChg>
      </pc:sldChg>
      <pc:sldChg chg="addSp modSp mod">
        <pc:chgData name="Kalmegh, Aditya (DOC)" userId="fb5b1123-5591-46b6-80bc-504fc94dce17" providerId="ADAL" clId="{113F8182-D14E-417B-8C5E-74DEEE72A419}" dt="2026-07-13T17:40:02.722" v="673" actId="20577"/>
        <pc:sldMkLst>
          <pc:docMk/>
          <pc:sldMk cId="2628725388" sldId="263"/>
        </pc:sldMkLst>
        <pc:spChg chg="mod">
          <ac:chgData name="Kalmegh, Aditya (DOC)" userId="fb5b1123-5591-46b6-80bc-504fc94dce17" providerId="ADAL" clId="{113F8182-D14E-417B-8C5E-74DEEE72A419}" dt="2026-07-13T17:22:46.792" v="28" actId="20577"/>
          <ac:spMkLst>
            <pc:docMk/>
            <pc:sldMk cId="2628725388" sldId="263"/>
            <ac:spMk id="2" creationId="{64C8E70B-E1F5-784E-C97E-501E8A8B0E9A}"/>
          </ac:spMkLst>
        </pc:spChg>
        <pc:spChg chg="add mod">
          <ac:chgData name="Kalmegh, Aditya (DOC)" userId="fb5b1123-5591-46b6-80bc-504fc94dce17" providerId="ADAL" clId="{113F8182-D14E-417B-8C5E-74DEEE72A419}" dt="2026-07-13T17:40:02.722" v="673" actId="20577"/>
          <ac:spMkLst>
            <pc:docMk/>
            <pc:sldMk cId="2628725388" sldId="263"/>
            <ac:spMk id="3" creationId="{EDB0433B-1ED5-0D6D-9CBA-6DAEF5225BD9}"/>
          </ac:spMkLst>
        </pc:spChg>
      </pc:sldChg>
      <pc:sldChg chg="modSp mod ord">
        <pc:chgData name="Kalmegh, Aditya (DOC)" userId="fb5b1123-5591-46b6-80bc-504fc94dce17" providerId="ADAL" clId="{113F8182-D14E-417B-8C5E-74DEEE72A419}" dt="2026-07-13T17:48:18.801" v="1008"/>
        <pc:sldMkLst>
          <pc:docMk/>
          <pc:sldMk cId="4029969039" sldId="265"/>
        </pc:sldMkLst>
        <pc:spChg chg="mod">
          <ac:chgData name="Kalmegh, Aditya (DOC)" userId="fb5b1123-5591-46b6-80bc-504fc94dce17" providerId="ADAL" clId="{113F8182-D14E-417B-8C5E-74DEEE72A419}" dt="2026-07-13T17:48:18.801" v="1008"/>
          <ac:spMkLst>
            <pc:docMk/>
            <pc:sldMk cId="4029969039" sldId="265"/>
            <ac:spMk id="2" creationId="{7BD168B8-13AA-6A04-5A2E-36B6C437D798}"/>
          </ac:spMkLst>
        </pc:spChg>
        <pc:picChg chg="mod">
          <ac:chgData name="Kalmegh, Aditya (DOC)" userId="fb5b1123-5591-46b6-80bc-504fc94dce17" providerId="ADAL" clId="{113F8182-D14E-417B-8C5E-74DEEE72A419}" dt="2026-07-13T17:21:30.069" v="1" actId="14100"/>
          <ac:picMkLst>
            <pc:docMk/>
            <pc:sldMk cId="4029969039" sldId="265"/>
            <ac:picMk id="5" creationId="{B40374B1-763C-70C1-D336-7379D4C0E822}"/>
          </ac:picMkLst>
        </pc:picChg>
      </pc:sldChg>
      <pc:sldChg chg="delSp mod">
        <pc:chgData name="Kalmegh, Aditya (DOC)" userId="fb5b1123-5591-46b6-80bc-504fc94dce17" providerId="ADAL" clId="{113F8182-D14E-417B-8C5E-74DEEE72A419}" dt="2026-07-13T17:48:45.897" v="1009" actId="478"/>
        <pc:sldMkLst>
          <pc:docMk/>
          <pc:sldMk cId="1761396130" sldId="266"/>
        </pc:sldMkLst>
        <pc:picChg chg="del">
          <ac:chgData name="Kalmegh, Aditya (DOC)" userId="fb5b1123-5591-46b6-80bc-504fc94dce17" providerId="ADAL" clId="{113F8182-D14E-417B-8C5E-74DEEE72A419}" dt="2026-07-13T17:48:45.897" v="1009" actId="478"/>
          <ac:picMkLst>
            <pc:docMk/>
            <pc:sldMk cId="1761396130" sldId="266"/>
            <ac:picMk id="5" creationId="{7F97F8D0-3F5C-B806-C938-65918DA3B547}"/>
          </ac:picMkLst>
        </pc:picChg>
      </pc:sldChg>
      <pc:sldChg chg="modSp mod">
        <pc:chgData name="Kalmegh, Aditya (DOC)" userId="fb5b1123-5591-46b6-80bc-504fc94dce17" providerId="ADAL" clId="{113F8182-D14E-417B-8C5E-74DEEE72A419}" dt="2026-07-13T17:21:20.013" v="0" actId="12"/>
        <pc:sldMkLst>
          <pc:docMk/>
          <pc:sldMk cId="3596757199" sldId="267"/>
        </pc:sldMkLst>
        <pc:spChg chg="mod">
          <ac:chgData name="Kalmegh, Aditya (DOC)" userId="fb5b1123-5591-46b6-80bc-504fc94dce17" providerId="ADAL" clId="{113F8182-D14E-417B-8C5E-74DEEE72A419}" dt="2026-07-13T17:21:20.013" v="0" actId="12"/>
          <ac:spMkLst>
            <pc:docMk/>
            <pc:sldMk cId="3596757199" sldId="267"/>
            <ac:spMk id="3" creationId="{80218BBC-1344-58A7-09AD-39015736B237}"/>
          </ac:spMkLst>
        </pc:spChg>
      </pc:sldChg>
      <pc:sldChg chg="modSp add mod">
        <pc:chgData name="Kalmegh, Aditya (DOC)" userId="fb5b1123-5591-46b6-80bc-504fc94dce17" providerId="ADAL" clId="{113F8182-D14E-417B-8C5E-74DEEE72A419}" dt="2026-07-13T17:22:40.756" v="15" actId="20577"/>
        <pc:sldMkLst>
          <pc:docMk/>
          <pc:sldMk cId="2922364476" sldId="268"/>
        </pc:sldMkLst>
        <pc:spChg chg="mod">
          <ac:chgData name="Kalmegh, Aditya (DOC)" userId="fb5b1123-5591-46b6-80bc-504fc94dce17" providerId="ADAL" clId="{113F8182-D14E-417B-8C5E-74DEEE72A419}" dt="2026-07-13T17:22:40.756" v="15" actId="20577"/>
          <ac:spMkLst>
            <pc:docMk/>
            <pc:sldMk cId="2922364476" sldId="268"/>
            <ac:spMk id="2" creationId="{1DE0A4E3-976A-BCC3-869E-8B5325412257}"/>
          </ac:spMkLst>
        </pc:spChg>
      </pc:sldChg>
      <pc:sldChg chg="modSp add mod">
        <pc:chgData name="Kalmegh, Aditya (DOC)" userId="fb5b1123-5591-46b6-80bc-504fc94dce17" providerId="ADAL" clId="{113F8182-D14E-417B-8C5E-74DEEE72A419}" dt="2026-07-13T17:23:25.695" v="72" actId="20577"/>
        <pc:sldMkLst>
          <pc:docMk/>
          <pc:sldMk cId="988867396" sldId="269"/>
        </pc:sldMkLst>
        <pc:spChg chg="mod">
          <ac:chgData name="Kalmegh, Aditya (DOC)" userId="fb5b1123-5591-46b6-80bc-504fc94dce17" providerId="ADAL" clId="{113F8182-D14E-417B-8C5E-74DEEE72A419}" dt="2026-07-13T17:23:25.695" v="72" actId="20577"/>
          <ac:spMkLst>
            <pc:docMk/>
            <pc:sldMk cId="988867396" sldId="269"/>
            <ac:spMk id="2" creationId="{C15116AB-3BF2-EB04-56BF-F0DF5B02525E}"/>
          </ac:spMkLst>
        </pc:spChg>
      </pc:sldChg>
      <pc:sldChg chg="addSp modSp add mod">
        <pc:chgData name="Kalmegh, Aditya (DOC)" userId="fb5b1123-5591-46b6-80bc-504fc94dce17" providerId="ADAL" clId="{113F8182-D14E-417B-8C5E-74DEEE72A419}" dt="2026-07-13T17:38:50.069" v="604" actId="14100"/>
        <pc:sldMkLst>
          <pc:docMk/>
          <pc:sldMk cId="3629722232" sldId="270"/>
        </pc:sldMkLst>
        <pc:spChg chg="mod">
          <ac:chgData name="Kalmegh, Aditya (DOC)" userId="fb5b1123-5591-46b6-80bc-504fc94dce17" providerId="ADAL" clId="{113F8182-D14E-417B-8C5E-74DEEE72A419}" dt="2026-07-13T17:36:59.590" v="415" actId="20577"/>
          <ac:spMkLst>
            <pc:docMk/>
            <pc:sldMk cId="3629722232" sldId="270"/>
            <ac:spMk id="2" creationId="{1599254A-3113-51D3-CB23-6CF937508150}"/>
          </ac:spMkLst>
        </pc:spChg>
        <pc:spChg chg="add mod">
          <ac:chgData name="Kalmegh, Aditya (DOC)" userId="fb5b1123-5591-46b6-80bc-504fc94dce17" providerId="ADAL" clId="{113F8182-D14E-417B-8C5E-74DEEE72A419}" dt="2026-07-13T17:38:50.069" v="604" actId="14100"/>
          <ac:spMkLst>
            <pc:docMk/>
            <pc:sldMk cId="3629722232" sldId="270"/>
            <ac:spMk id="3" creationId="{5D53953D-6DFE-5055-083D-A9AB397D32BB}"/>
          </ac:spMkLst>
        </pc:spChg>
      </pc:sldChg>
      <pc:sldChg chg="modSp add mod">
        <pc:chgData name="Kalmegh, Aditya (DOC)" userId="fb5b1123-5591-46b6-80bc-504fc94dce17" providerId="ADAL" clId="{113F8182-D14E-417B-8C5E-74DEEE72A419}" dt="2026-07-13T17:28:15.477" v="374" actId="1076"/>
        <pc:sldMkLst>
          <pc:docMk/>
          <pc:sldMk cId="1217493163" sldId="271"/>
        </pc:sldMkLst>
        <pc:spChg chg="mod">
          <ac:chgData name="Kalmegh, Aditya (DOC)" userId="fb5b1123-5591-46b6-80bc-504fc94dce17" providerId="ADAL" clId="{113F8182-D14E-417B-8C5E-74DEEE72A419}" dt="2026-07-13T17:27:48.391" v="314" actId="20577"/>
          <ac:spMkLst>
            <pc:docMk/>
            <pc:sldMk cId="1217493163" sldId="271"/>
            <ac:spMk id="2" creationId="{A564258E-5F6C-4320-6CCB-193F6CFBB243}"/>
          </ac:spMkLst>
        </pc:spChg>
        <pc:spChg chg="mod">
          <ac:chgData name="Kalmegh, Aditya (DOC)" userId="fb5b1123-5591-46b6-80bc-504fc94dce17" providerId="ADAL" clId="{113F8182-D14E-417B-8C5E-74DEEE72A419}" dt="2026-07-13T17:28:15.477" v="374" actId="1076"/>
          <ac:spMkLst>
            <pc:docMk/>
            <pc:sldMk cId="1217493163" sldId="271"/>
            <ac:spMk id="4" creationId="{F1A1B832-0DEF-F91B-6CB5-EBB7F6B98A44}"/>
          </ac:spMkLst>
        </pc:spChg>
      </pc:sldChg>
      <pc:sldChg chg="modSp add mod">
        <pc:chgData name="Kalmegh, Aditya (DOC)" userId="fb5b1123-5591-46b6-80bc-504fc94dce17" providerId="ADAL" clId="{113F8182-D14E-417B-8C5E-74DEEE72A419}" dt="2026-07-13T17:35:16.517" v="403" actId="6549"/>
        <pc:sldMkLst>
          <pc:docMk/>
          <pc:sldMk cId="3401115969" sldId="272"/>
        </pc:sldMkLst>
        <pc:spChg chg="mod">
          <ac:chgData name="Kalmegh, Aditya (DOC)" userId="fb5b1123-5591-46b6-80bc-504fc94dce17" providerId="ADAL" clId="{113F8182-D14E-417B-8C5E-74DEEE72A419}" dt="2026-07-13T17:35:16.517" v="403" actId="6549"/>
          <ac:spMkLst>
            <pc:docMk/>
            <pc:sldMk cId="3401115969" sldId="272"/>
            <ac:spMk id="2" creationId="{9AF1E0CA-7B37-72BE-0C22-66CD6385FF6D}"/>
          </ac:spMkLst>
        </pc:spChg>
      </pc:sldChg>
      <pc:sldChg chg="modSp add mod">
        <pc:chgData name="Kalmegh, Aditya (DOC)" userId="fb5b1123-5591-46b6-80bc-504fc94dce17" providerId="ADAL" clId="{113F8182-D14E-417B-8C5E-74DEEE72A419}" dt="2026-07-13T21:28:47.712" v="1102" actId="20577"/>
        <pc:sldMkLst>
          <pc:docMk/>
          <pc:sldMk cId="999964240" sldId="273"/>
        </pc:sldMkLst>
        <pc:spChg chg="mod">
          <ac:chgData name="Kalmegh, Aditya (DOC)" userId="fb5b1123-5591-46b6-80bc-504fc94dce17" providerId="ADAL" clId="{113F8182-D14E-417B-8C5E-74DEEE72A419}" dt="2026-07-13T17:40:51.996" v="700" actId="20577"/>
          <ac:spMkLst>
            <pc:docMk/>
            <pc:sldMk cId="999964240" sldId="273"/>
            <ac:spMk id="2" creationId="{BEFD0EBB-DAC9-F195-747B-09313283C12A}"/>
          </ac:spMkLst>
        </pc:spChg>
        <pc:spChg chg="mod">
          <ac:chgData name="Kalmegh, Aditya (DOC)" userId="fb5b1123-5591-46b6-80bc-504fc94dce17" providerId="ADAL" clId="{113F8182-D14E-417B-8C5E-74DEEE72A419}" dt="2026-07-13T21:28:47.712" v="1102" actId="20577"/>
          <ac:spMkLst>
            <pc:docMk/>
            <pc:sldMk cId="999964240" sldId="273"/>
            <ac:spMk id="4" creationId="{4B6F96B5-2A81-4AAE-EF42-C3DF4D5ABD9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5D8E8-9665-6F14-7DE3-76035711C9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D07BF8-67F5-B969-4349-7C00EAE144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CC5A0-5807-D72E-C215-0C359CFF6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3B0E-FCEF-4694-9124-C913A2FD600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FFA04-A323-0388-7092-AEFFBA247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8786C-D300-02BC-9B21-A24BDD41A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C89E-75A3-427C-B1DB-77409B0D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107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67BB0-1ACF-8597-B565-403BF60EF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3B403-0ADB-2A5F-9712-D333F551A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B6BD2-72C6-5950-2104-6FFDB348A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3B0E-FCEF-4694-9124-C913A2FD600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87D85-D487-9F83-A7BE-8F91A289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EFBF9-7476-9ECC-03E0-AEB53B424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C89E-75A3-427C-B1DB-77409B0D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54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6B03A-AC5A-F172-698F-42C1ED5B9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4C4AC-139B-D34F-FE0D-0994CFCA3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5B1B2-6EC1-1DC3-A55D-44BB0823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3B0E-FCEF-4694-9124-C913A2FD600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431D7-A6A6-1FC1-BA56-0FF41556D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47770-1FFD-45E3-25ED-62169A14B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C89E-75A3-427C-B1DB-77409B0D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99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C1109-1883-A86C-59E7-8834E5D84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E45CF-998F-2092-AB58-B61C82B5EE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B818A4-CC2A-9081-86BB-7DADB9A50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BB52F-3B27-E76A-6F38-13D112121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3B0E-FCEF-4694-9124-C913A2FD600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3F3CD-8871-3A3D-C48C-F0F9344C1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4ED50-DFF2-50CF-5EC1-EEC5A4F04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C89E-75A3-427C-B1DB-77409B0D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045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263D7-B1D7-40A5-BF5B-647B67F71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D3C6E-79F8-379D-0E04-589D62718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1EA61-50E5-86A6-17CA-6773D19E1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DB365-2915-76F4-A372-F683440535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528B25-3084-A8FB-B769-92BDA7F9E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DBC773-A00F-F18F-A391-D93699F28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3B0E-FCEF-4694-9124-C913A2FD600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430D6F-78E5-8FAE-D19C-22744CA4E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F187AB-9C13-4D64-2D86-87AAF75BE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C89E-75A3-427C-B1DB-77409B0D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79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0CE51-592F-5A22-CB9D-C1294236E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6C8DB-9022-3DA1-427B-A4E397BB2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3B0E-FCEF-4694-9124-C913A2FD600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C7A2AC-49B6-248A-4A7C-5FD292C75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19F47E-4EC7-3D7C-21C1-AEDCD843A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C89E-75A3-427C-B1DB-77409B0D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97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E48570-CFBD-79C0-ADCD-BE45A66D0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3B0E-FCEF-4694-9124-C913A2FD600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68304-866B-5E54-5B64-585FB1DD7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1E414-B5C3-037E-780E-719B3306E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C89E-75A3-427C-B1DB-77409B0D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006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2FF4B-770A-A222-B3DB-6539CC83D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3B717-4537-2F99-EA21-251D3BC6C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884A3-FA36-2730-E196-8B4207018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AE06F-5ED4-7463-F369-B0C3B4FDC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3B0E-FCEF-4694-9124-C913A2FD600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3A2CE-6A12-E327-1898-2AC3FC2AD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6D24B-8EB5-8148-72BA-AF5A50483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C89E-75A3-427C-B1DB-77409B0D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338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2BF0D-4E5E-24A4-B9EA-861DB2E63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DFB85E-D735-1F99-FBAC-FA51A15046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1734D-1818-26E6-C0FD-0327A2A45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742E7-291B-7112-3288-F9266A234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3B0E-FCEF-4694-9124-C913A2FD600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D20D0-C4F8-D10F-B724-0437DA504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9F504-9656-C495-E85E-A2C51A1C1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C89E-75A3-427C-B1DB-77409B0D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67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989B8-61CC-30A5-D831-4B22D750A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EB3C2-9493-118F-7CED-8DF2A846A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252A5-6599-5AE7-172A-D8F5DF5D0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3B0E-FCEF-4694-9124-C913A2FD600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EB77B-F75C-B83B-DD2E-2035D2633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EA2B4-F835-BEF5-FB01-F37AC140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C89E-75A3-427C-B1DB-77409B0D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834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99CA60-3B86-3733-A022-0EC0ED1E3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2743E-94C4-8C64-1871-2CB943E58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C8545-C8C3-1188-90EF-E5112F49B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3B0E-FCEF-4694-9124-C913A2FD600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3FD8E-842A-9277-2EDE-92FCB963D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1C9EE-565D-6E4C-5242-D0CDCBAE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C89E-75A3-427C-B1DB-77409B0D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941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B0A7C3-B4F3-FFCF-7777-96203BB9C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9DB75-F5CC-F09F-08F8-470C80AB6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DAF43-5CBF-2D04-61A3-823930D49A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183B0E-FCEF-4694-9124-C913A2FD600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54D34-FA00-07CD-715E-398C186FD6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97E16-AB76-4A9E-B515-DFA1814FE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0C89E-75A3-427C-B1DB-77409B0D9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38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54A2B-386C-AE86-3A19-34840D5103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072CFA-DC87-51F1-F6FD-B6CEB3B983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77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A22A1-64B0-25F0-BD38-2E8212DC1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229"/>
            <a:ext cx="10515600" cy="640715"/>
          </a:xfrm>
        </p:spPr>
        <p:txBody>
          <a:bodyPr>
            <a:normAutofit/>
          </a:bodyPr>
          <a:lstStyle/>
          <a:p>
            <a:r>
              <a:rPr lang="en-US" sz="2400" dirty="0"/>
              <a:t>Selection : mapping business needs to technical capabilities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6BD8F5-30CF-C554-E1F6-C56CE5884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854944"/>
            <a:ext cx="10931326" cy="567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External Vendors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Sales</a:t>
            </a:r>
            <a:r>
              <a:rPr lang="en-US" altLang="en-US" dirty="0">
                <a:latin typeface="Google Sans"/>
              </a:rPr>
              <a:t>force CRM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ERP Implementation(SAP S/4 HANA for Supply Chain Order-To-Cash which tracks from order to returns workflow)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Google Sans"/>
              </a:rPr>
              <a:t>Data Science (ML/AI): On-Premise Data-Warehouse to SAAS On-Cloud </a:t>
            </a:r>
            <a:r>
              <a:rPr lang="en-US" altLang="en-US" dirty="0" err="1">
                <a:latin typeface="Google Sans"/>
              </a:rPr>
              <a:t>DataBricks</a:t>
            </a:r>
            <a:r>
              <a:rPr lang="en-US" altLang="en-US" dirty="0">
                <a:latin typeface="Google Sans"/>
              </a:rPr>
              <a:t> Data </a:t>
            </a:r>
            <a:r>
              <a:rPr lang="en-US" altLang="en-US" dirty="0" err="1">
                <a:latin typeface="Google Sans"/>
              </a:rPr>
              <a:t>LakeHouse</a:t>
            </a:r>
            <a:r>
              <a:rPr lang="en-US" altLang="en-US" dirty="0">
                <a:latin typeface="Google Sans"/>
              </a:rPr>
              <a:t> 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Google Sans"/>
              </a:rPr>
              <a:t>Electronic Medical Records (</a:t>
            </a:r>
            <a:r>
              <a:rPr lang="en-US" altLang="en-US" dirty="0" err="1">
                <a:latin typeface="Google Sans"/>
              </a:rPr>
              <a:t>EMR</a:t>
            </a:r>
            <a:r>
              <a:rPr lang="en-US" altLang="en-US" dirty="0">
                <a:latin typeface="Google Sans"/>
              </a:rPr>
              <a:t>) EPIC Implementation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Google Sans"/>
              </a:rPr>
              <a:t>Governance: Alation 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Google Sans"/>
              </a:rPr>
              <a:t>Business Intelligence Systems: Power BI, Tableau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 err="1">
                <a:latin typeface="Google Sans"/>
              </a:rPr>
              <a:t>AirTable</a:t>
            </a:r>
            <a:r>
              <a:rPr lang="en-US" altLang="en-US" dirty="0">
                <a:latin typeface="Google Sans"/>
              </a:rPr>
              <a:t>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MicroSof</a:t>
            </a:r>
            <a:r>
              <a:rPr lang="en-US" altLang="en-US" dirty="0" err="1">
                <a:latin typeface="Google Sans"/>
              </a:rPr>
              <a:t>t</a:t>
            </a:r>
            <a:r>
              <a:rPr lang="en-US" altLang="en-US" dirty="0">
                <a:latin typeface="Google Sans"/>
              </a:rPr>
              <a:t> Cloud Apps (SharePoint, Power Automate, Power Apps, Forms, etc.)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u="sng" dirty="0">
                <a:latin typeface="Google Sans"/>
              </a:rPr>
              <a:t>In-House IT Developed &amp; Managed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Google Sans"/>
              </a:rPr>
              <a:t>Supply Chain Network Analysis &amp; Modeling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Google Sans"/>
              </a:rPr>
              <a:t>IT PMO Application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339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0FF20-CDD2-F0E8-FA1B-8FB8C7A10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4258E-5F6C-4320-6CCB-193F6CFBB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229"/>
            <a:ext cx="10515600" cy="640715"/>
          </a:xfrm>
        </p:spPr>
        <p:txBody>
          <a:bodyPr>
            <a:normAutofit/>
          </a:bodyPr>
          <a:lstStyle/>
          <a:p>
            <a:r>
              <a:rPr lang="en-US" sz="2400" dirty="0"/>
              <a:t>Intro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A1B832-0DEF-F91B-6CB5-EBB7F6B98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46179"/>
            <a:ext cx="2472343" cy="2032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u="sng" dirty="0">
                <a:latin typeface="Google Sans"/>
              </a:rPr>
              <a:t>Computer Eng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u="sng" dirty="0">
                <a:latin typeface="Google Sans"/>
              </a:rPr>
              <a:t>Data Science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u="sng" dirty="0">
                <a:latin typeface="Google Sans"/>
              </a:rPr>
              <a:t>HealthCare / Government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49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7E8DA-B618-6F34-E7B5-1D35B77DA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D0EBB-DAC9-F195-747B-09313283C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229"/>
            <a:ext cx="10515600" cy="640715"/>
          </a:xfrm>
        </p:spPr>
        <p:txBody>
          <a:bodyPr>
            <a:normAutofit/>
          </a:bodyPr>
          <a:lstStyle/>
          <a:p>
            <a:r>
              <a:rPr lang="en-US" sz="2400" dirty="0"/>
              <a:t>IT/Business Bridge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6F96B5-2A81-4AAE-EF42-C3DF4D5AB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329481"/>
            <a:ext cx="8278092" cy="328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Full Stack Dev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Data: Data Science (ML/AI) Data Engineers, Business Intelligence, DBA, Data &amp; ML  Ops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Networking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Cyber Security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Compliance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Finance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Cross-Functional: Supply Chain, Sales &amp; Marketing, Business Units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Non-Tech Community (Social Workers, Nurses, Doctors, HealthCare Admins/</a:t>
            </a:r>
            <a:r>
              <a:rPr lang="en-US" altLang="en-US" sz="1600" dirty="0" err="1"/>
              <a:t>Mgrs</a:t>
            </a:r>
            <a:r>
              <a:rPr lang="en-US" altLang="en-US" sz="1600" dirty="0"/>
              <a:t>, </a:t>
            </a:r>
            <a:r>
              <a:rPr lang="en-US" altLang="en-US" sz="1600"/>
              <a:t>etc.)ma</a:t>
            </a:r>
            <a:endParaRPr lang="en-US" altLang="en-US" sz="1600" dirty="0"/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6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Executive Leadership</a:t>
            </a:r>
          </a:p>
        </p:txBody>
      </p:sp>
    </p:spTree>
    <p:extLst>
      <p:ext uri="{BB962C8B-B14F-4D97-AF65-F5344CB8AC3E}">
        <p14:creationId xmlns:p14="http://schemas.microsoft.com/office/powerpoint/2010/main" val="999964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64FC1-4441-3EA9-0D43-3A06D448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86893-9CF7-22B4-24D5-0F79041CC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Selection : mapping business needs to technical capabilities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963907-1C58-48A2-C6C0-8E72F02C2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1" y="1569534"/>
            <a:ext cx="5257800" cy="3846951"/>
          </a:xfrm>
          <a:prstGeom prst="rect">
            <a:avLst/>
          </a:prstGeom>
          <a:noFill/>
          <a:ln w="31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3500000" scaled="1"/>
              <a:tileRect/>
            </a:gra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/>
              <a:t>Gather Requirements:</a:t>
            </a:r>
            <a:r>
              <a:rPr lang="en-US" altLang="en-US" sz="1400" dirty="0"/>
              <a:t> Document functional needs and non-functional needs like security and scalability.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/>
              <a:t>Industry Compliance Regulations: </a:t>
            </a:r>
            <a:r>
              <a:rPr lang="en-US" altLang="en-US" sz="1400" dirty="0"/>
              <a:t>Ex HIPAA, PII, GDPR&lt;,CFR Part 2 etc.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/>
              <a:t>Define Criteria:</a:t>
            </a:r>
            <a:r>
              <a:rPr lang="en-US" altLang="en-US" sz="1400" dirty="0"/>
              <a:t> Create a weighted scoring matrix for vendor features, cost, and support.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/>
              <a:t>Market Research:</a:t>
            </a:r>
            <a:r>
              <a:rPr lang="en-US" altLang="en-US" sz="1400" dirty="0"/>
              <a:t> Evaluate vendor landscapes using industry reports and request for proposals (RFPs).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/>
              <a:t>Proof of Concept:</a:t>
            </a:r>
            <a:r>
              <a:rPr lang="en-US" altLang="en-US" sz="1400" dirty="0"/>
              <a:t> Test the top two solutions in a sandbox environment using real data.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/>
              <a:t>Financial Analysis:</a:t>
            </a:r>
            <a:r>
              <a:rPr lang="en-US" altLang="en-US" sz="1400" dirty="0"/>
              <a:t> Compute the Total Cost of Ownership (TCO) for a five-year period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84C3729-E60E-6D74-6889-ED5E1D719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8003" y="1569534"/>
            <a:ext cx="4906181" cy="3844963"/>
          </a:xfrm>
          <a:prstGeom prst="rect">
            <a:avLst/>
          </a:prstGeom>
          <a:noFill/>
          <a:ln w="31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3500000" scaled="1"/>
              <a:tileRect/>
            </a:gra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>
                <a:latin typeface="Google Sans"/>
              </a:rPr>
              <a:t>Business Requirements Document (BRD):</a:t>
            </a:r>
            <a:r>
              <a:rPr lang="en-US" altLang="en-US" sz="1400" dirty="0">
                <a:latin typeface="Google Sans"/>
              </a:rPr>
              <a:t> Defines high-level business goals and user needs.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>
                <a:latin typeface="Google Sans"/>
              </a:rPr>
              <a:t>System Requirements Specification (SRS):</a:t>
            </a:r>
            <a:r>
              <a:rPr lang="en-US" altLang="en-US" sz="1400" dirty="0">
                <a:latin typeface="Google Sans"/>
              </a:rPr>
              <a:t> Details functional and non-functional technical constraints.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>
                <a:latin typeface="Google Sans"/>
              </a:rPr>
              <a:t>Request for Proposal (RFP):</a:t>
            </a:r>
            <a:r>
              <a:rPr lang="en-US" altLang="en-US" sz="1400" dirty="0">
                <a:latin typeface="Google Sans"/>
              </a:rPr>
              <a:t> Invites vendors to bid based on project needs.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>
                <a:latin typeface="Google Sans"/>
              </a:rPr>
              <a:t>Vendor Scoring Matrix:</a:t>
            </a:r>
            <a:r>
              <a:rPr lang="en-US" altLang="en-US" sz="1400" dirty="0">
                <a:latin typeface="Google Sans"/>
              </a:rPr>
              <a:t> Scores vendor features using a weighted evaluation model.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>
                <a:latin typeface="Google Sans"/>
              </a:rPr>
              <a:t>Total Cost of Ownership (TCO) Model:</a:t>
            </a:r>
            <a:r>
              <a:rPr lang="en-US" altLang="en-US" sz="1400" dirty="0">
                <a:latin typeface="Google Sans"/>
              </a:rPr>
              <a:t> Forecasts five-year licensing, implementation, and operating costs.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>
                <a:latin typeface="Google Sans"/>
              </a:rPr>
              <a:t>Proof of Concept (PoC) Evaluation Report:</a:t>
            </a:r>
            <a:r>
              <a:rPr lang="en-US" altLang="en-US" sz="1400" dirty="0">
                <a:latin typeface="Google Sans"/>
              </a:rPr>
              <a:t> Documents outcomes, limitations, and findings from sandbox testing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996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C4EBA-B799-443F-6080-2F3DDFCAD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85711-FB52-404C-1C9D-E192F551C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Solution Architecture Review: selected application safely and efficiently fits into your existing ecosystem.</a:t>
            </a:r>
            <a:endParaRPr lang="en-US" sz="2400" dirty="0"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7B8E55-29F0-4A9D-F90C-6EC70A990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1" y="1893885"/>
            <a:ext cx="5257800" cy="3198248"/>
          </a:xfrm>
          <a:prstGeom prst="rect">
            <a:avLst/>
          </a:prstGeom>
          <a:noFill/>
          <a:ln w="31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3500000" scaled="1"/>
              <a:tileRect/>
            </a:gra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>
                <a:latin typeface="Google Sans"/>
              </a:rPr>
              <a:t>System Integration:</a:t>
            </a:r>
            <a:r>
              <a:rPr lang="en-US" altLang="en-US" sz="1400" dirty="0">
                <a:latin typeface="Google Sans"/>
              </a:rPr>
              <a:t> Map data flows between the new application and existing core systems.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>
                <a:latin typeface="Google Sans"/>
              </a:rPr>
              <a:t>Security Compliance:</a:t>
            </a:r>
            <a:r>
              <a:rPr lang="en-US" altLang="en-US" sz="1400" dirty="0">
                <a:latin typeface="Google Sans"/>
              </a:rPr>
              <a:t> Validate identity management, data encryption, and regulatory compliance (e.g., GDPR, HIPAA).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>
                <a:latin typeface="Google Sans"/>
              </a:rPr>
              <a:t>Scalability Check:</a:t>
            </a:r>
            <a:r>
              <a:rPr lang="en-US" altLang="en-US" sz="1400" dirty="0">
                <a:latin typeface="Google Sans"/>
              </a:rPr>
              <a:t> Review infrastructure limits to handle peak user loads and data growth.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>
                <a:latin typeface="Google Sans"/>
              </a:rPr>
              <a:t>Disaster Recovery:</a:t>
            </a:r>
            <a:r>
              <a:rPr lang="en-US" altLang="en-US" sz="1400" dirty="0">
                <a:latin typeface="Google Sans"/>
              </a:rPr>
              <a:t> Verify Recovery Time Objectives (RTO) and Recovery Point Objectives (</a:t>
            </a:r>
            <a:r>
              <a:rPr lang="en-US" altLang="en-US" sz="1400" dirty="0" err="1">
                <a:latin typeface="Google Sans"/>
              </a:rPr>
              <a:t>RPO</a:t>
            </a:r>
            <a:r>
              <a:rPr lang="en-US" altLang="en-US" sz="1400" dirty="0">
                <a:latin typeface="Google Sans"/>
              </a:rPr>
              <a:t>).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>
                <a:latin typeface="Google Sans"/>
              </a:rPr>
              <a:t>Tech Stack Alignment:</a:t>
            </a:r>
            <a:r>
              <a:rPr lang="en-US" altLang="en-US" sz="1400" dirty="0">
                <a:latin typeface="Google Sans"/>
              </a:rPr>
              <a:t> Ensure the solution uses approved databases, languages, and cloud providers.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0218BBC-1344-58A7-09AD-39015736B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8003" y="1731118"/>
            <a:ext cx="4906181" cy="3521798"/>
          </a:xfrm>
          <a:prstGeom prst="rect">
            <a:avLst/>
          </a:prstGeom>
          <a:noFill/>
          <a:ln w="31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3500000" scaled="1"/>
              <a:tileRect/>
            </a:gra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System Architecture Diagram: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Visualizes infrastructure, network zones, and component interactions.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Data Flow Diagram (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DFD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Tracks data movement, boundaries, and storage points across systems.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Integration Specification Document: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Defines APIs, data payloads, webhooks, and middleware configurations.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Security &amp; Compliance Assessment: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Documents encryption standards, identity management (IdP), and regulatory alignments.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Disaster Recovery (DR) &amp;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BCP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Plan: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Outlines failover steps,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RPO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/RTO metrics, and backup schedules.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757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D04CC-2B99-EE5C-6633-0A4C9337A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0FFA2-16AF-0EBE-8040-8EC9D4A13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Implementation: bridge between developers, vendors, and business stakeholders during rollout.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B677E27-1F30-F9A6-5A0F-70904000F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1" y="1893885"/>
            <a:ext cx="5257800" cy="3198248"/>
          </a:xfrm>
          <a:prstGeom prst="rect">
            <a:avLst/>
          </a:prstGeom>
          <a:noFill/>
          <a:ln w="31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3500000" scaled="1"/>
              <a:tileRect/>
            </a:gra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>
                <a:latin typeface="Google Sans"/>
              </a:rPr>
              <a:t>Phased Roadmap:</a:t>
            </a:r>
            <a:r>
              <a:rPr lang="en-US" altLang="en-US" sz="1400" dirty="0">
                <a:latin typeface="Google Sans"/>
              </a:rPr>
              <a:t> Divide the deployment into manageable sprints or milestone-based phases.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>
                <a:latin typeface="Google Sans"/>
              </a:rPr>
              <a:t>Data Migration:</a:t>
            </a:r>
            <a:r>
              <a:rPr lang="en-US" altLang="en-US" sz="1400" dirty="0">
                <a:latin typeface="Google Sans"/>
              </a:rPr>
              <a:t> Extract, transform, and load (ETL) legacy data into the new system schema.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>
                <a:latin typeface="Google Sans"/>
              </a:rPr>
              <a:t>Environment Strategy:</a:t>
            </a:r>
            <a:r>
              <a:rPr lang="en-US" altLang="en-US" sz="1400" dirty="0">
                <a:latin typeface="Google Sans"/>
              </a:rPr>
              <a:t> Configure separate environments for development, testing, staging, and production.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>
                <a:latin typeface="Google Sans"/>
              </a:rPr>
              <a:t>Rigorous Testing:</a:t>
            </a:r>
            <a:r>
              <a:rPr lang="en-US" altLang="en-US" sz="1400" dirty="0">
                <a:latin typeface="Google Sans"/>
              </a:rPr>
              <a:t> Execute user acceptance testing (UAT), performance testing, and regression testing.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>
                <a:latin typeface="Google Sans"/>
              </a:rPr>
              <a:t>Change Management:</a:t>
            </a:r>
            <a:r>
              <a:rPr lang="en-US" altLang="en-US" sz="1400" dirty="0">
                <a:latin typeface="Google Sans"/>
              </a:rPr>
              <a:t> Conduct user training sessions and document clear system workflows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854C80F-FA15-B039-CFEB-367F935B6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8003" y="1892701"/>
            <a:ext cx="4906181" cy="3198633"/>
          </a:xfrm>
          <a:prstGeom prst="rect">
            <a:avLst/>
          </a:prstGeom>
          <a:noFill/>
          <a:ln w="31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3500000" scaled="1"/>
              <a:tileRect/>
            </a:gra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Implementation Roadmap &amp; Project Plan: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Details phase timelines, work breakdown structures, and resource paths.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Data Migration Plan (ETL):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Maps source-to-target fields, transformation rules, and validation checks.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Test Plan &amp; Test Scripts: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Outlines QA parameters, UAT scenarios, and expected outcomes.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Deployment Checklist (Runbook):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Provides step-by-step technical instructions for the production launch.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User Training &amp; Workflow Documentation: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Offers step-by-step guides for system administrators and end users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450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E2BAD-D349-C497-8078-508207022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D3C8B-71EC-C2AE-F4EC-5CCCA84BE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Post Deployment Support: Continuous monitoring and optimization ensure the application delivers long-term value.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5F72B75-51EE-F2D6-83ED-9541CDBCC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1" y="1893692"/>
            <a:ext cx="5257800" cy="3198633"/>
          </a:xfrm>
          <a:prstGeom prst="rect">
            <a:avLst/>
          </a:prstGeom>
          <a:noFill/>
          <a:ln w="31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3500000" scaled="1"/>
              <a:tileRect/>
            </a:gra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>
                <a:latin typeface="Google Sans"/>
              </a:rPr>
              <a:t>Hypercare Period:</a:t>
            </a:r>
            <a:r>
              <a:rPr lang="en-US" altLang="en-US" sz="1400" dirty="0">
                <a:latin typeface="Google Sans"/>
              </a:rPr>
              <a:t> Provide dedicated, immediate technical support for the first 30 days post-launch.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>
                <a:latin typeface="Google Sans"/>
              </a:rPr>
              <a:t>SLA Monitoring:</a:t>
            </a:r>
            <a:r>
              <a:rPr lang="en-US" altLang="en-US" sz="1400" dirty="0">
                <a:latin typeface="Google Sans"/>
              </a:rPr>
              <a:t> Track vendor uptime, system latency, and support ticket resolution times.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>
                <a:latin typeface="Google Sans"/>
              </a:rPr>
              <a:t>Feedback Loops:</a:t>
            </a:r>
            <a:r>
              <a:rPr lang="en-US" altLang="en-US" sz="1400" dirty="0">
                <a:latin typeface="Google Sans"/>
              </a:rPr>
              <a:t> Collect user pain points to prioritize future bug fixes and feature updates.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>
                <a:latin typeface="Google Sans"/>
              </a:rPr>
              <a:t>Performance Tuning:</a:t>
            </a:r>
            <a:r>
              <a:rPr lang="en-US" altLang="en-US" sz="1400" dirty="0">
                <a:latin typeface="Google Sans"/>
              </a:rPr>
              <a:t> Optimize database queries and infrastructure allocation based on real usage patterns.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b="1" dirty="0">
                <a:latin typeface="Google Sans"/>
              </a:rPr>
              <a:t>Routine Maintenance:</a:t>
            </a:r>
            <a:r>
              <a:rPr lang="en-US" altLang="en-US" sz="1400" dirty="0">
                <a:latin typeface="Google Sans"/>
              </a:rPr>
              <a:t> Schedule regular security patches, certificate renewals, and version upgrades.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692687C-C7BF-E329-4580-2ED7437B3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8003" y="2215869"/>
            <a:ext cx="4906181" cy="2552302"/>
          </a:xfrm>
          <a:prstGeom prst="rect">
            <a:avLst/>
          </a:prstGeom>
          <a:noFill/>
          <a:ln w="31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3500000" scaled="1"/>
              <a:tileRect/>
            </a:gra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Standard Operating Procedures (SOPs):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Details routine system management, provisioning, and troubleshooting steps.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Service Level Agreement (SLA) Matrix: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Defines support tiers, response times, and escalation paths.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Hypercare Log &amp; Incident Report: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Tracks bugs, resolutions, and system stability during initial launch.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Patch &amp; Release Management Policy: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Schedules cadence for version updates, hotfixes, and security patches.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722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F378E-EADC-1AE5-CB34-EA8C0548D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7DB85-EFEB-E7EE-A8A1-8C1ECFBDD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/>
          </a:bodyPr>
          <a:lstStyle/>
          <a:p>
            <a:r>
              <a:rPr lang="en-US" sz="2400" dirty="0"/>
              <a:t>IT PMO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AC3F1F-70DB-11C1-0F53-13FAC1043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35865"/>
            <a:ext cx="6868536" cy="458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239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9A190-B7A4-B8D6-62C8-51021724D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6F655-280C-AC5B-6028-D96C64F8B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/>
          </a:bodyPr>
          <a:lstStyle/>
          <a:p>
            <a:r>
              <a:rPr lang="en-US" sz="2400" dirty="0"/>
              <a:t>IT PMO </a:t>
            </a:r>
          </a:p>
        </p:txBody>
      </p:sp>
    </p:spTree>
    <p:extLst>
      <p:ext uri="{BB962C8B-B14F-4D97-AF65-F5344CB8AC3E}">
        <p14:creationId xmlns:p14="http://schemas.microsoft.com/office/powerpoint/2010/main" val="1761396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E5784-8B65-F53D-116B-D83EF0514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168B8-13AA-6A04-5A2E-36B6C437D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/>
          </a:bodyPr>
          <a:lstStyle/>
          <a:p>
            <a:r>
              <a:rPr lang="en-US" sz="2400" dirty="0"/>
              <a:t>Data as a shared </a:t>
            </a:r>
            <a:r>
              <a:rPr lang="en-US" sz="2400" dirty="0" err="1"/>
              <a:t>resouce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0374B1-763C-70C1-D336-7379D4C0E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25826"/>
            <a:ext cx="6181436" cy="391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969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18790-91DE-38DA-76DA-5FC8AD7F9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8E70B-E1F5-784E-C97E-501E8A8B0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/>
          </a:bodyPr>
          <a:lstStyle/>
          <a:p>
            <a:r>
              <a:rPr lang="en-US" sz="2400" dirty="0"/>
              <a:t>User Adoption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0433B-1ED5-0D6D-9CBA-6DAEF5225BD9}"/>
              </a:ext>
            </a:extLst>
          </p:cNvPr>
          <p:cNvSpPr txBox="1"/>
          <p:nvPr/>
        </p:nvSpPr>
        <p:spPr>
          <a:xfrm>
            <a:off x="838200" y="1616364"/>
            <a:ext cx="7278255" cy="3376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User/Community Development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Business Champions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Training Videos &amp; Presentations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Self-Help Resources (JavaScript based animated videos)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How-To-Instruction manuals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On-site: Office Hours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Outside: Coffee Chat / Fireside Pizza / Friday Happy Hours etc. </a:t>
            </a:r>
          </a:p>
          <a:p>
            <a:pPr>
              <a:lnSpc>
                <a:spcPct val="150000"/>
              </a:lnSpc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8725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585DE-1BDD-6397-689C-D3493C13E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0A4E3-976A-BCC3-869E-8B5325412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/>
          </a:bodyPr>
          <a:lstStyle/>
          <a:p>
            <a:r>
              <a:rPr lang="en-US" sz="2400" dirty="0"/>
              <a:t>Communication</a:t>
            </a:r>
          </a:p>
        </p:txBody>
      </p:sp>
    </p:spTree>
    <p:extLst>
      <p:ext uri="{BB962C8B-B14F-4D97-AF65-F5344CB8AC3E}">
        <p14:creationId xmlns:p14="http://schemas.microsoft.com/office/powerpoint/2010/main" val="2922364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85DEF-99F4-26AD-8D67-3B2239957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1E0CA-7B37-72BE-0C22-66CD6385F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/>
          </a:bodyPr>
          <a:lstStyle/>
          <a:p>
            <a:r>
              <a:rPr lang="en-US" sz="2400" dirty="0"/>
              <a:t>Program Status</a:t>
            </a:r>
          </a:p>
        </p:txBody>
      </p:sp>
    </p:spTree>
    <p:extLst>
      <p:ext uri="{BB962C8B-B14F-4D97-AF65-F5344CB8AC3E}">
        <p14:creationId xmlns:p14="http://schemas.microsoft.com/office/powerpoint/2010/main" val="3401115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4CB27-DFF7-1593-4431-6A2D1D87A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116AB-3BF2-EB04-56BF-F0DF5B025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/>
          </a:bodyPr>
          <a:lstStyle/>
          <a:p>
            <a:r>
              <a:rPr lang="en-US" sz="2400" dirty="0"/>
              <a:t>Collaboration: Handling Conflicts</a:t>
            </a:r>
          </a:p>
        </p:txBody>
      </p:sp>
    </p:spTree>
    <p:extLst>
      <p:ext uri="{BB962C8B-B14F-4D97-AF65-F5344CB8AC3E}">
        <p14:creationId xmlns:p14="http://schemas.microsoft.com/office/powerpoint/2010/main" val="988867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AF4AB-C393-7547-8877-84FE3FF75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9254A-3113-51D3-CB23-6CF937508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/>
          </a:bodyPr>
          <a:lstStyle/>
          <a:p>
            <a:r>
              <a:rPr lang="en-US" sz="2400" dirty="0"/>
              <a:t>Improvement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53953D-6DFE-5055-083D-A9AB397D32BB}"/>
              </a:ext>
            </a:extLst>
          </p:cNvPr>
          <p:cNvSpPr txBox="1"/>
          <p:nvPr/>
        </p:nvSpPr>
        <p:spPr>
          <a:xfrm>
            <a:off x="1062182" y="2604655"/>
            <a:ext cx="7943273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Intelligent Work Assignment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Ability to get a place in line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Online Status Tracker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Site with self-help resources, training videos, how-to-instruction manual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722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1d0e217-264e-400a-8ba0-57dcc127d72d}" enabled="0" method="" siteId="{11d0e217-264e-400a-8ba0-57dcc127d72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973</Words>
  <Application>Microsoft Office PowerPoint</Application>
  <PresentationFormat>Widescreen</PresentationFormat>
  <Paragraphs>95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Google Sans</vt:lpstr>
      <vt:lpstr>Office Theme</vt:lpstr>
      <vt:lpstr>PowerPoint Presentation</vt:lpstr>
      <vt:lpstr>Selection : mapping business needs to technical capabilities</vt:lpstr>
      <vt:lpstr>Intro</vt:lpstr>
      <vt:lpstr>IT/Business Bridge</vt:lpstr>
      <vt:lpstr>Selection : mapping business needs to technical capabilities</vt:lpstr>
      <vt:lpstr>Solution Architecture Review: selected application safely and efficiently fits into your existing ecosystem.</vt:lpstr>
      <vt:lpstr>Implementation: bridge between developers, vendors, and business stakeholders during rollout.</vt:lpstr>
      <vt:lpstr>Post Deployment Support: Continuous monitoring and optimization ensure the application delivers long-term value.</vt:lpstr>
      <vt:lpstr>IT PMO </vt:lpstr>
      <vt:lpstr>IT PMO </vt:lpstr>
      <vt:lpstr>Data as a shared resouce</vt:lpstr>
      <vt:lpstr>User Adoption</vt:lpstr>
      <vt:lpstr>Communication</vt:lpstr>
      <vt:lpstr>Program Status</vt:lpstr>
      <vt:lpstr>Collaboration: Handling Conflicts</vt:lpstr>
      <vt:lpstr>Improvement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Kalmegh, Aditya (DOC)</dc:creator>
  <cp:lastModifiedBy>Kalmegh, Aditya (DOC)</cp:lastModifiedBy>
  <cp:revision>1</cp:revision>
  <dcterms:created xsi:type="dcterms:W3CDTF">2026-07-13T16:51:29Z</dcterms:created>
  <dcterms:modified xsi:type="dcterms:W3CDTF">2026-07-13T21:28:56Z</dcterms:modified>
</cp:coreProperties>
</file>